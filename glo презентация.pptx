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_rels/slideMaster1.xml.rels" ContentType="application/vnd.openxmlformats-package.relationships+xml"/>
  <Override PartName="/ppt/notesSlides/notesSlide9.xml" ContentType="application/vnd.openxmlformats-officedocument.presentationml.notes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_rels/notesSlide9.xml.rels" ContentType="application/vnd.openxmlformats-package.relationships+xml"/>
  <Override PartName="/ppt/notesSlides/_rels/notesSlide1.xml.rels" ContentType="application/vnd.openxmlformats-package.relationships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_rels/notesSlide8.xml.rels" ContentType="application/vnd.openxmlformats-package.relationships+xml"/>
  <Override PartName="/ppt/notesSlides/_rels/notesSlide10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slideLayouts/slideLayout9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_rels/slideLayout9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2.xml.rels" ContentType="application/vnd.openxmlformats-package.relationships+xml"/>
  <Override PartName="/ppt/_rels/presentation.xml.rels" ContentType="application/vnd.openxmlformats-package.relationships+xml"/>
  <Override PartName="/ppt/slides/slide9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_rels/slide9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_rels/slide8.xml.rels" ContentType="application/vnd.openxmlformats-package.relationships+xml"/>
  <Override PartName="/ppt/slides/_rels/slide10.xml.rels" ContentType="application/vnd.openxmlformats-package.relationships+xml"/>
  <Override PartName="/ppt/slides/_rels/slide11.xml.rels" ContentType="application/vnd.openxmlformats-package.relationships+xml"/>
  <Override PartName="/ppt/media/image3.png" ContentType="image/png"/>
  <Override PartName="/ppt/media/image1.jpeg" ContentType="image/jpeg"/>
  <Override PartName="/ppt/media/image8.png" ContentType="image/png"/>
  <Override PartName="/ppt/media/image2.jpeg" ContentType="image/jpeg"/>
  <Override PartName="/ppt/media/image4.png" ContentType="image/png"/>
  <Override PartName="/ppt/media/image5.png" ContentType="image/png"/>
  <Override PartName="/ppt/media/image6.png" ContentType="image/png"/>
  <Override PartName="/ppt/media/image7.png" ContentType="image/png"/>
  <Override PartName="/ppt/media/image9.png" ContentType="image/png"/>
  <Override PartName="/ppt/media/image10.jpeg" ContentType="image/jpeg"/>
  <Override PartName="/ppt/media/image11.png" ContentType="image/png"/>
  <Override PartName="/ppt/media/image12.png" ContentType="image/png"/>
  <Override PartName="/ppt/media/image19.png" ContentType="image/png"/>
  <Override PartName="/ppt/media/image13.jpeg" ContentType="image/jpeg"/>
  <Override PartName="/ppt/media/image14.png" ContentType="image/png"/>
  <Override PartName="/ppt/media/image15.jpeg" ContentType="image/jpeg"/>
  <Override PartName="/ppt/media/image16.png" ContentType="image/png"/>
  <Override PartName="/ppt/media/image17.png" ContentType="image/png"/>
  <Override PartName="/ppt/media/image18.png" ContentType="image/png"/>
  <Override PartName="/ppt/media/image20.png" ContentType="image/png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9144000" cy="5143500"/>
  <p:notesSz cx="6858000" cy="91440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lIns="0" rIns="0" tIns="0" bIns="0"/>
          <a:p>
            <a:r>
              <a:rPr b="0" lang="ru-RU" sz="2000" spc="-1" strike="noStrike">
                <a:latin typeface="Arial"/>
              </a:rPr>
              <a:t>Для правки формата примечаний щёлкните мышью</a:t>
            </a:r>
            <a:endParaRPr b="0" lang="ru-RU" sz="20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r>
              <a:rPr b="0" lang="ru-RU" sz="1400" spc="-1" strike="noStrike">
                <a:latin typeface="Times New Roman"/>
              </a:rPr>
              <a:t>&lt;верхний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dt"/>
          </p:nvPr>
        </p:nvSpPr>
        <p:spPr>
          <a:xfrm>
            <a:off x="4278960" y="0"/>
            <a:ext cx="3280680" cy="534240"/>
          </a:xfrm>
          <a:prstGeom prst="rect">
            <a:avLst/>
          </a:prstGeom>
        </p:spPr>
        <p:txBody>
          <a:bodyPr lIns="0" rIns="0" tIns="0" bIns="0"/>
          <a:p>
            <a:pPr algn="r"/>
            <a:r>
              <a:rPr b="0" lang="ru-RU" sz="1400" spc="-1" strike="noStrike">
                <a:latin typeface="Times New Roman"/>
              </a:rPr>
              <a:t>&lt;дата/время&gt;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ftr"/>
          </p:nvPr>
        </p:nvSpPr>
        <p:spPr>
          <a:xfrm>
            <a:off x="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r>
              <a:rPr b="0" lang="ru-RU" sz="1400" spc="-1" strike="noStrike">
                <a:latin typeface="Times New Roman"/>
              </a:rPr>
              <a:t>&lt;нижний колонтитул&gt;</a:t>
            </a:r>
            <a:endParaRPr b="0" lang="ru-RU" sz="1400" spc="-1" strike="noStrike">
              <a:latin typeface="Times New Roman"/>
            </a:endParaRPr>
          </a:p>
        </p:txBody>
      </p:sp>
      <p:sp>
        <p:nvSpPr>
          <p:cNvPr id="44" name="PlaceHolder 5"/>
          <p:cNvSpPr>
            <a:spLocks noGrp="1"/>
          </p:cNvSpPr>
          <p:nvPr>
            <p:ph type="sldNum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</p:spPr>
        <p:txBody>
          <a:bodyPr lIns="0" rIns="0" tIns="0" bIns="0" anchor="b"/>
          <a:p>
            <a:pPr algn="r"/>
            <a:fld id="{54D7A946-8D19-4FAB-92D6-224534FF46A5}" type="slidenum">
              <a:rPr b="0" lang="ru-RU" sz="1400" spc="-1" strike="noStrike">
                <a:latin typeface="Times New Roman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
</Relationships>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
</Relationships>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45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9D93A728-553F-4F69-97B5-419A5A695270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47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08003CE2-C9C5-4EDA-9894-9FAAA7153FED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49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8AA1C701-AADA-41D8-A61B-7F02B683BCEF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51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EDFC65BF-2978-4316-B32D-B3CE2EDFDE4A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53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8AD7E393-8A45-4B58-9249-3BD48F04A16F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55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DFBF52AD-5B53-4C94-9245-7AE6BBC1ECBA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57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93B88348-CC9A-478F-A4E9-699F993C97E9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59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1BAFDAC3-13EC-4B0B-8EB1-A4288BCB9818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61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1FB90DF7-6CBD-4352-A8CC-4E944B1A529A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PlaceHolder 1"/>
          <p:cNvSpPr>
            <a:spLocks noGrp="1"/>
          </p:cNvSpPr>
          <p:nvPr>
            <p:ph type="body"/>
          </p:nvPr>
        </p:nvSpPr>
        <p:spPr>
          <a:xfrm>
            <a:off x="685800" y="3300480"/>
            <a:ext cx="5486040" cy="2700000"/>
          </a:xfrm>
          <a:prstGeom prst="rect">
            <a:avLst/>
          </a:prstGeom>
        </p:spPr>
        <p:txBody>
          <a:bodyPr/>
          <a:p>
            <a:endParaRPr b="0" lang="ru-RU" sz="2000" spc="-1" strike="noStrike">
              <a:latin typeface="Arial"/>
            </a:endParaRPr>
          </a:p>
        </p:txBody>
      </p:sp>
      <p:sp>
        <p:nvSpPr>
          <p:cNvPr id="163" name="TextShape 2"/>
          <p:cNvSpPr txBox="1"/>
          <p:nvPr/>
        </p:nvSpPr>
        <p:spPr>
          <a:xfrm>
            <a:off x="3884760" y="6514200"/>
            <a:ext cx="2971440" cy="343800"/>
          </a:xfrm>
          <a:prstGeom prst="rect">
            <a:avLst/>
          </a:prstGeom>
          <a:noFill/>
          <a:ln>
            <a:noFill/>
          </a:ln>
        </p:spPr>
        <p:txBody>
          <a:bodyPr anchor="b"/>
          <a:p>
            <a:pPr algn="r">
              <a:lnSpc>
                <a:spcPct val="100000"/>
              </a:lnSpc>
            </a:pPr>
            <a:fld id="{C9AD10C4-5626-4B3C-8078-1459B5B2030D}" type="slidenum">
              <a:rPr b="0" lang="ru-RU" sz="1400" spc="-1" strike="noStrike">
                <a:solidFill>
                  <a:srgbClr val="000000"/>
                </a:solidFill>
                <a:latin typeface="Arial"/>
                <a:ea typeface="Arial"/>
              </a:rPr>
              <a:t>&lt;номер&gt;</a:t>
            </a:fld>
            <a:endParaRPr b="0" lang="ru-RU" sz="14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subTitle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subTitle"/>
          </p:nvPr>
        </p:nvSpPr>
        <p:spPr>
          <a:xfrm>
            <a:off x="457200" y="205200"/>
            <a:ext cx="8229240" cy="39812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ru-RU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4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7" name="PlaceHolder 3"/>
          <p:cNvSpPr>
            <a:spLocks noGrp="1"/>
          </p:cNvSpPr>
          <p:nvPr>
            <p:ph type="body"/>
          </p:nvPr>
        </p:nvSpPr>
        <p:spPr>
          <a:xfrm>
            <a:off x="457200" y="2761920"/>
            <a:ext cx="822924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 type="body"/>
          </p:nvPr>
        </p:nvSpPr>
        <p:spPr>
          <a:xfrm>
            <a:off x="4674240" y="120348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 type="body"/>
          </p:nvPr>
        </p:nvSpPr>
        <p:spPr>
          <a:xfrm>
            <a:off x="467424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5"/>
          <p:cNvSpPr>
            <a:spLocks noGrp="1"/>
          </p:cNvSpPr>
          <p:nvPr>
            <p:ph type="body"/>
          </p:nvPr>
        </p:nvSpPr>
        <p:spPr>
          <a:xfrm>
            <a:off x="457200" y="2761920"/>
            <a:ext cx="40158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323964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6022080" y="120348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5"/>
          <p:cNvSpPr>
            <a:spLocks noGrp="1"/>
          </p:cNvSpPr>
          <p:nvPr>
            <p:ph type="body"/>
          </p:nvPr>
        </p:nvSpPr>
        <p:spPr>
          <a:xfrm>
            <a:off x="602208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6"/>
          <p:cNvSpPr>
            <a:spLocks noGrp="1"/>
          </p:cNvSpPr>
          <p:nvPr>
            <p:ph type="body"/>
          </p:nvPr>
        </p:nvSpPr>
        <p:spPr>
          <a:xfrm>
            <a:off x="323964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7"/>
          <p:cNvSpPr>
            <a:spLocks noGrp="1"/>
          </p:cNvSpPr>
          <p:nvPr>
            <p:ph type="body"/>
          </p:nvPr>
        </p:nvSpPr>
        <p:spPr>
          <a:xfrm>
            <a:off x="457200" y="2761920"/>
            <a:ext cx="2649600" cy="142272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CustomShape 1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010303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CustomShape 2"/>
          <p:cNvSpPr/>
          <p:nvPr/>
        </p:nvSpPr>
        <p:spPr>
          <a:xfrm>
            <a:off x="0" y="0"/>
            <a:ext cx="9143640" cy="5143320"/>
          </a:xfrm>
          <a:prstGeom prst="rect">
            <a:avLst/>
          </a:prstGeom>
          <a:solidFill>
            <a:srgbClr val="212121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" name="PlaceHolder 3"/>
          <p:cNvSpPr>
            <a:spLocks noGrp="1"/>
          </p:cNvSpPr>
          <p:nvPr>
            <p:ph type="title"/>
          </p:nvPr>
        </p:nvSpPr>
        <p:spPr>
          <a:xfrm>
            <a:off x="457200" y="205200"/>
            <a:ext cx="8229240" cy="85860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текста заголовка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Для правки структуры щёлкните мышью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Второй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Третий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ffffff"/>
              </a:buClr>
              <a:buSzPct val="75000"/>
              <a:buFont typeface="Symbol" charset="2"/>
              <a:buChar char=""/>
            </a:pPr>
            <a:r>
              <a:rPr b="0" lang="ru-RU" sz="1400" spc="-1" strike="noStrike">
                <a:solidFill>
                  <a:srgbClr val="000000"/>
                </a:solidFill>
                <a:latin typeface="Arial"/>
              </a:rPr>
              <a:t>Четвёртый уровень структуры</a:t>
            </a:r>
            <a:endParaRPr b="0" lang="ru-RU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Пятый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Шестой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ffffff"/>
              </a:buClr>
              <a:buSzPct val="45000"/>
              <a:buFont typeface="Wingdings" charset="2"/>
              <a:buChar char=""/>
            </a:pPr>
            <a:r>
              <a:rPr b="0" lang="ru-RU" sz="2000" spc="-1" strike="noStrike">
                <a:solidFill>
                  <a:srgbClr val="000000"/>
                </a:solidFill>
                <a:latin typeface="Arial"/>
              </a:rPr>
              <a:t>Седьмой уровень структуры</a:t>
            </a:r>
            <a:endParaRPr b="0" lang="ru-RU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image" Target="../media/image6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10.jpeg"/><Relationship Id="rId2" Type="http://schemas.openxmlformats.org/officeDocument/2006/relationships/image" Target="../media/image1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3.jpeg"/><Relationship Id="rId2" Type="http://schemas.openxmlformats.org/officeDocument/2006/relationships/hyperlink" Target="mailto:scout@example.com" TargetMode="External"/><Relationship Id="rId3" Type="http://schemas.openxmlformats.org/officeDocument/2006/relationships/hyperlink" Target="mailto:oopt@example.com" TargetMode="External"/><Relationship Id="rId4" Type="http://schemas.openxmlformats.org/officeDocument/2006/relationships/image" Target="../media/image1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5.jpeg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hyperlink" Target="https://gitverse.ru/hackrus.experts/kosmo-rostov_glo_65" TargetMode="External"/><Relationship Id="rId6" Type="http://schemas.openxmlformats.org/officeDocument/2006/relationships/image" Target="../media/image1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61;p16" descr=""/>
          <p:cNvPicPr/>
          <p:nvPr/>
        </p:nvPicPr>
        <p:blipFill>
          <a:blip r:embed="rId1"/>
          <a:stretch/>
        </p:blipFill>
        <p:spPr>
          <a:xfrm>
            <a:off x="5715000" y="0"/>
            <a:ext cx="3428640" cy="5143320"/>
          </a:xfrm>
          <a:prstGeom prst="rect">
            <a:avLst/>
          </a:prstGeom>
          <a:ln>
            <a:noFill/>
          </a:ln>
        </p:spPr>
      </p:pic>
      <p:sp>
        <p:nvSpPr>
          <p:cNvPr id="46" name="CustomShape 1"/>
          <p:cNvSpPr/>
          <p:nvPr/>
        </p:nvSpPr>
        <p:spPr>
          <a:xfrm>
            <a:off x="496080" y="1630800"/>
            <a:ext cx="4722480" cy="442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8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Чистый след</a:t>
            </a:r>
            <a:endParaRPr b="0" lang="ru-RU" sz="2800" spc="-1" strike="noStrike">
              <a:latin typeface="Arial"/>
            </a:endParaRPr>
          </a:p>
        </p:txBody>
      </p:sp>
      <p:sp>
        <p:nvSpPr>
          <p:cNvPr id="47" name="CustomShape 2"/>
          <p:cNvSpPr/>
          <p:nvPr/>
        </p:nvSpPr>
        <p:spPr>
          <a:xfrm>
            <a:off x="496080" y="2286360"/>
            <a:ext cx="4722480" cy="12258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Платформа для мониторинга экосистем — волонтёры + сотрудники ООПТ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33000"/>
              </a:lnSpc>
              <a:spcBef>
                <a:spcPts val="1199"/>
              </a:spcBef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Команда: Кирилл (бэкенд) · Александр (фронтенд)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33000"/>
              </a:lnSpc>
              <a:spcBef>
                <a:spcPts val="1199"/>
              </a:spcBef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КосмоХакатон 2026</a:t>
            </a:r>
            <a:endParaRPr b="0" lang="ru-RU" sz="11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Google Shape;69;p17" descr=""/>
          <p:cNvPicPr/>
          <p:nvPr/>
        </p:nvPicPr>
        <p:blipFill>
          <a:blip r:embed="rId1"/>
          <a:stretch/>
        </p:blipFill>
        <p:spPr>
          <a:xfrm>
            <a:off x="496080" y="1474200"/>
            <a:ext cx="3902400" cy="2194920"/>
          </a:xfrm>
          <a:prstGeom prst="rect">
            <a:avLst/>
          </a:prstGeom>
          <a:ln>
            <a:noFill/>
          </a:ln>
        </p:spPr>
      </p:pic>
      <p:sp>
        <p:nvSpPr>
          <p:cNvPr id="49" name="CustomShape 1"/>
          <p:cNvSpPr/>
          <p:nvPr/>
        </p:nvSpPr>
        <p:spPr>
          <a:xfrm>
            <a:off x="4749840" y="794520"/>
            <a:ext cx="3902760" cy="35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Проблема и аудитории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50" name="CustomShape 2"/>
          <p:cNvSpPr/>
          <p:nvPr/>
        </p:nvSpPr>
        <p:spPr>
          <a:xfrm>
            <a:off x="4749840" y="1308240"/>
            <a:ext cx="1880280" cy="1780560"/>
          </a:xfrm>
          <a:prstGeom prst="roundRect">
            <a:avLst>
              <a:gd name="adj" fmla="val 1194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1" name="CustomShape 3"/>
          <p:cNvSpPr/>
          <p:nvPr/>
        </p:nvSpPr>
        <p:spPr>
          <a:xfrm>
            <a:off x="4891320" y="1450080"/>
            <a:ext cx="159660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Молодёжь 14+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2" name="CustomShape 4"/>
          <p:cNvSpPr/>
          <p:nvPr/>
        </p:nvSpPr>
        <p:spPr>
          <a:xfrm>
            <a:off x="4891320" y="1813320"/>
            <a:ext cx="1596600" cy="1133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Хочет помогать природе. Не через субботники. Цифровые привычки. Любит геймификацию.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3" name="CustomShape 5"/>
          <p:cNvSpPr/>
          <p:nvPr/>
        </p:nvSpPr>
        <p:spPr>
          <a:xfrm>
            <a:off x="6771960" y="1308240"/>
            <a:ext cx="1880280" cy="1780560"/>
          </a:xfrm>
          <a:prstGeom prst="roundRect">
            <a:avLst>
              <a:gd name="adj" fmla="val 1194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4" name="CustomShape 6"/>
          <p:cNvSpPr/>
          <p:nvPr/>
        </p:nvSpPr>
        <p:spPr>
          <a:xfrm>
            <a:off x="6913800" y="1450080"/>
            <a:ext cx="159660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Сотрудники ООПТ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5" name="CustomShape 7"/>
          <p:cNvSpPr/>
          <p:nvPr/>
        </p:nvSpPr>
        <p:spPr>
          <a:xfrm>
            <a:off x="6913800" y="1813320"/>
            <a:ext cx="1596600" cy="906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Мало людей — ~10 000 га на человека. Нужны подсказки куда ехать. Снижение рутины.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56" name="CustomShape 8"/>
          <p:cNvSpPr/>
          <p:nvPr/>
        </p:nvSpPr>
        <p:spPr>
          <a:xfrm>
            <a:off x="4749840" y="3231000"/>
            <a:ext cx="3902760" cy="1100160"/>
          </a:xfrm>
          <a:prstGeom prst="roundRect">
            <a:avLst>
              <a:gd name="adj" fmla="val 1933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CustomShape 9"/>
          <p:cNvSpPr/>
          <p:nvPr/>
        </p:nvSpPr>
        <p:spPr>
          <a:xfrm>
            <a:off x="4891320" y="3372840"/>
            <a:ext cx="361908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Решение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58" name="CustomShape 10"/>
          <p:cNvSpPr/>
          <p:nvPr/>
        </p:nvSpPr>
        <p:spPr>
          <a:xfrm>
            <a:off x="4891320" y="3735720"/>
            <a:ext cx="3619080" cy="45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Одна платформа связывает обе группы — волонтёры дают данные, инспекторы верифицируют.</a:t>
            </a:r>
            <a:endParaRPr b="0" lang="ru-RU" sz="1100" spc="-1" strike="noStrike">
              <a:latin typeface="Arial"/>
            </a:endParaRPr>
          </a:p>
        </p:txBody>
      </p:sp>
    </p:spTree>
  </p:cSld>
  <p:timing>
    <p:tnLst>
      <p:par>
        <p:cTn id="3" dur="indefinite" restart="never" nodeType="tmRoot">
          <p:childTnLst>
            <p:seq>
              <p:cTn id="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9" name="Google Shape;85;p18" descr=""/>
          <p:cNvPicPr/>
          <p:nvPr/>
        </p:nvPicPr>
        <p:blipFill>
          <a:blip r:embed="rId1"/>
          <a:stretch/>
        </p:blipFill>
        <p:spPr>
          <a:xfrm>
            <a:off x="4572000" y="0"/>
            <a:ext cx="4571640" cy="5143320"/>
          </a:xfrm>
          <a:prstGeom prst="rect">
            <a:avLst/>
          </a:prstGeom>
          <a:ln>
            <a:noFill/>
          </a:ln>
        </p:spPr>
      </p:pic>
      <p:sp>
        <p:nvSpPr>
          <p:cNvPr id="60" name="CustomShape 1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rgbClr val="dfdfe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1" name="CustomShape 2"/>
          <p:cNvSpPr/>
          <p:nvPr/>
        </p:nvSpPr>
        <p:spPr>
          <a:xfrm>
            <a:off x="496080" y="607320"/>
            <a:ext cx="3579480" cy="2941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700" spc="-1" strike="noStrike">
                <a:solidFill>
                  <a:srgbClr val="e5e0df"/>
                </a:solidFill>
                <a:latin typeface="Consolas"/>
                <a:ea typeface="Consolas"/>
              </a:rPr>
              <a:t>Пользовательские пути</a:t>
            </a:r>
            <a:endParaRPr b="0" lang="ru-RU" sz="1700" spc="-1" strike="noStrike">
              <a:latin typeface="Arial"/>
            </a:endParaRPr>
          </a:p>
        </p:txBody>
      </p:sp>
      <p:sp>
        <p:nvSpPr>
          <p:cNvPr id="62" name="CustomShape 3"/>
          <p:cNvSpPr/>
          <p:nvPr/>
        </p:nvSpPr>
        <p:spPr>
          <a:xfrm>
            <a:off x="496080" y="1114560"/>
            <a:ext cx="283320" cy="17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 Mono Light"/>
                <a:ea typeface="Roboto Mono Light"/>
              </a:rPr>
              <a:t>01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3" name="CustomShape 4"/>
          <p:cNvSpPr/>
          <p:nvPr/>
        </p:nvSpPr>
        <p:spPr>
          <a:xfrm>
            <a:off x="496080" y="1336320"/>
            <a:ext cx="3579480" cy="18720"/>
          </a:xfrm>
          <a:prstGeom prst="rect">
            <a:avLst/>
          </a:prstGeom>
          <a:solidFill>
            <a:srgbClr val="dcff5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4" name="CustomShape 5"/>
          <p:cNvSpPr/>
          <p:nvPr/>
        </p:nvSpPr>
        <p:spPr>
          <a:xfrm>
            <a:off x="496080" y="1445400"/>
            <a:ext cx="357948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Скаут (14+)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5" name="CustomShape 6"/>
          <p:cNvSpPr/>
          <p:nvPr/>
        </p:nvSpPr>
        <p:spPr>
          <a:xfrm>
            <a:off x="496080" y="1751760"/>
            <a:ext cx="3579480" cy="45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Регистрация → Обучение → Миссии → Разметка → Баллы → Магазин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6" name="CustomShape 7"/>
          <p:cNvSpPr/>
          <p:nvPr/>
        </p:nvSpPr>
        <p:spPr>
          <a:xfrm>
            <a:off x="496080" y="2453400"/>
            <a:ext cx="283320" cy="17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 Mono Light"/>
                <a:ea typeface="Roboto Mono Light"/>
              </a:rPr>
              <a:t>02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67" name="CustomShape 8"/>
          <p:cNvSpPr/>
          <p:nvPr/>
        </p:nvSpPr>
        <p:spPr>
          <a:xfrm>
            <a:off x="496080" y="2675160"/>
            <a:ext cx="3579480" cy="18720"/>
          </a:xfrm>
          <a:prstGeom prst="rect">
            <a:avLst/>
          </a:prstGeom>
          <a:solidFill>
            <a:srgbClr val="dcff5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68" name="CustomShape 9"/>
          <p:cNvSpPr/>
          <p:nvPr/>
        </p:nvSpPr>
        <p:spPr>
          <a:xfrm>
            <a:off x="496080" y="2784240"/>
            <a:ext cx="357948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Инспектор ООПТ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69" name="CustomShape 10"/>
          <p:cNvSpPr/>
          <p:nvPr/>
        </p:nvSpPr>
        <p:spPr>
          <a:xfrm>
            <a:off x="496080" y="3090960"/>
            <a:ext cx="357948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Вход → Дашборд → Карта → Верификация → Задачи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0" name="CustomShape 11"/>
          <p:cNvSpPr/>
          <p:nvPr/>
        </p:nvSpPr>
        <p:spPr>
          <a:xfrm>
            <a:off x="496080" y="3565800"/>
            <a:ext cx="283320" cy="1767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/>
          <a:p>
            <a:pPr>
              <a:lnSpc>
                <a:spcPct val="100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 Mono Light"/>
                <a:ea typeface="Roboto Mono Light"/>
              </a:rPr>
              <a:t>03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1" name="CustomShape 12"/>
          <p:cNvSpPr/>
          <p:nvPr/>
        </p:nvSpPr>
        <p:spPr>
          <a:xfrm>
            <a:off x="496080" y="3787560"/>
            <a:ext cx="3579480" cy="18720"/>
          </a:xfrm>
          <a:prstGeom prst="rect">
            <a:avLst/>
          </a:prstGeom>
          <a:solidFill>
            <a:srgbClr val="dcff5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72" name="CustomShape 13"/>
          <p:cNvSpPr/>
          <p:nvPr/>
        </p:nvSpPr>
        <p:spPr>
          <a:xfrm>
            <a:off x="496080" y="3896640"/>
            <a:ext cx="357948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Итог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73" name="CustomShape 14"/>
          <p:cNvSpPr/>
          <p:nvPr/>
        </p:nvSpPr>
        <p:spPr>
          <a:xfrm>
            <a:off x="496080" y="4203000"/>
            <a:ext cx="357948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Две роли — один продукт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74" name="Google Shape;100;p18" descr=""/>
          <p:cNvPicPr/>
          <p:nvPr/>
        </p:nvPicPr>
        <p:blipFill>
          <a:blip r:embed="rId2"/>
          <a:srcRect l="17712" t="-6209" r="18206" b="6209"/>
          <a:stretch/>
        </p:blipFill>
        <p:spPr>
          <a:xfrm>
            <a:off x="4572000" y="1359360"/>
            <a:ext cx="4571640" cy="3783960"/>
          </a:xfrm>
          <a:prstGeom prst="rect">
            <a:avLst/>
          </a:prstGeom>
          <a:ln>
            <a:noFill/>
          </a:ln>
        </p:spPr>
      </p:pic>
      <p:sp>
        <p:nvSpPr>
          <p:cNvPr id="75" name="CustomShape 15"/>
          <p:cNvSpPr/>
          <p:nvPr/>
        </p:nvSpPr>
        <p:spPr>
          <a:xfrm>
            <a:off x="4579560" y="0"/>
            <a:ext cx="4556520" cy="1592280"/>
          </a:xfrm>
          <a:prstGeom prst="rect">
            <a:avLst/>
          </a:prstGeom>
          <a:solidFill>
            <a:srgbClr val="212121"/>
          </a:solidFill>
          <a:ln w="9360">
            <a:solidFill>
              <a:schemeClr val="dk2"/>
            </a:solidFill>
            <a:round/>
          </a:ln>
        </p:spPr>
        <p:style>
          <a:lnRef idx="0"/>
          <a:fillRef idx="0"/>
          <a:effectRef idx="0"/>
          <a:fontRef idx="minor"/>
        </p:style>
      </p:sp>
    </p:spTree>
  </p:cSld>
  <p:timing>
    <p:tnLst>
      <p:par>
        <p:cTn id="5" dur="indefinite" restart="never" nodeType="tmRoot">
          <p:childTnLst>
            <p:seq>
              <p:cTn id="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Google Shape;107;p19" descr=""/>
          <p:cNvPicPr/>
          <p:nvPr/>
        </p:nvPicPr>
        <p:blipFill>
          <a:blip r:embed="rId1"/>
          <a:stretch/>
        </p:blipFill>
        <p:spPr>
          <a:xfrm>
            <a:off x="746640" y="1863000"/>
            <a:ext cx="2551320" cy="1417320"/>
          </a:xfrm>
          <a:prstGeom prst="rect">
            <a:avLst/>
          </a:prstGeom>
          <a:ln>
            <a:noFill/>
          </a:ln>
        </p:spPr>
      </p:pic>
      <p:sp>
        <p:nvSpPr>
          <p:cNvPr id="77" name="CustomShape 1"/>
          <p:cNvSpPr/>
          <p:nvPr/>
        </p:nvSpPr>
        <p:spPr>
          <a:xfrm>
            <a:off x="3899880" y="1568880"/>
            <a:ext cx="4752360" cy="35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Обучение и ДЗЗ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78" name="CustomShape 2"/>
          <p:cNvSpPr/>
          <p:nvPr/>
        </p:nvSpPr>
        <p:spPr>
          <a:xfrm>
            <a:off x="3899880" y="2064960"/>
            <a:ext cx="4752360" cy="779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Обучение перед миссиями: вырубка, тень vs мусор, грязная вода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Интерактивные примеры с изображениями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Без обучения — нет доступа к миссиям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79" name="CustomShape 3"/>
          <p:cNvSpPr/>
          <p:nvPr/>
        </p:nvSpPr>
        <p:spPr>
          <a:xfrm>
            <a:off x="3899880" y="3004200"/>
            <a:ext cx="4752360" cy="552240"/>
          </a:xfrm>
          <a:prstGeom prst="roundRect">
            <a:avLst>
              <a:gd name="adj" fmla="val 3847"/>
            </a:avLst>
          </a:prstGeom>
          <a:solidFill>
            <a:srgbClr val="fcec99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80" name="CustomShape 4"/>
          <p:cNvSpPr/>
          <p:nvPr/>
        </p:nvSpPr>
        <p:spPr>
          <a:xfrm>
            <a:off x="4041720" y="3166920"/>
            <a:ext cx="492588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000000"/>
                </a:solidFill>
                <a:latin typeface="Roboto"/>
                <a:ea typeface="Roboto"/>
              </a:rPr>
              <a:t>Короткие тесты подтверждают готовность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81" name="Google Shape;112;p19" descr=""/>
          <p:cNvPicPr/>
          <p:nvPr/>
        </p:nvPicPr>
        <p:blipFill>
          <a:blip r:embed="rId2"/>
          <a:stretch/>
        </p:blipFill>
        <p:spPr>
          <a:xfrm>
            <a:off x="64440" y="1545480"/>
            <a:ext cx="3720960" cy="20109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7" dur="indefinite" restart="never" nodeType="tmRoot">
          <p:childTnLst>
            <p:seq>
              <p:cTn id="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CustomShape 1"/>
          <p:cNvSpPr/>
          <p:nvPr/>
        </p:nvSpPr>
        <p:spPr>
          <a:xfrm>
            <a:off x="358920" y="166680"/>
            <a:ext cx="8151480" cy="35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Игровой интерфейс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83" name="CustomShape 2"/>
          <p:cNvSpPr/>
          <p:nvPr/>
        </p:nvSpPr>
        <p:spPr>
          <a:xfrm>
            <a:off x="574560" y="3745800"/>
            <a:ext cx="184968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Миссии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4" name="CustomShape 3"/>
          <p:cNvSpPr/>
          <p:nvPr/>
        </p:nvSpPr>
        <p:spPr>
          <a:xfrm>
            <a:off x="574560" y="4052520"/>
            <a:ext cx="1849680" cy="45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Скауты получают снимки, отмечают аномалии.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5" name="CustomShape 4"/>
          <p:cNvSpPr/>
          <p:nvPr/>
        </p:nvSpPr>
        <p:spPr>
          <a:xfrm>
            <a:off x="3693600" y="3692520"/>
            <a:ext cx="184968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Награды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6" name="CustomShape 5"/>
          <p:cNvSpPr/>
          <p:nvPr/>
        </p:nvSpPr>
        <p:spPr>
          <a:xfrm>
            <a:off x="3693600" y="3999240"/>
            <a:ext cx="1849680" cy="68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50 баллов за подтверждённую отметку. Рейтинг и магазин.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87" name="CustomShape 6"/>
          <p:cNvSpPr/>
          <p:nvPr/>
        </p:nvSpPr>
        <p:spPr>
          <a:xfrm>
            <a:off x="6797880" y="3677400"/>
            <a:ext cx="184968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Геймификация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88" name="CustomShape 7"/>
          <p:cNvSpPr/>
          <p:nvPr/>
        </p:nvSpPr>
        <p:spPr>
          <a:xfrm>
            <a:off x="6797880" y="3983760"/>
            <a:ext cx="1849680" cy="4532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Рейтинг, влияние голоса зависит от точности.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89" name="Google Shape;125;p20" descr=""/>
          <p:cNvPicPr/>
          <p:nvPr/>
        </p:nvPicPr>
        <p:blipFill>
          <a:blip r:embed="rId1"/>
          <a:srcRect l="32281" t="0" r="32150" b="0"/>
          <a:stretch/>
        </p:blipFill>
        <p:spPr>
          <a:xfrm>
            <a:off x="496440" y="700200"/>
            <a:ext cx="1888200" cy="2866320"/>
          </a:xfrm>
          <a:prstGeom prst="rect">
            <a:avLst/>
          </a:prstGeom>
          <a:ln>
            <a:noFill/>
          </a:ln>
        </p:spPr>
      </p:pic>
      <p:pic>
        <p:nvPicPr>
          <p:cNvPr id="90" name="Google Shape;126;p20" descr=""/>
          <p:cNvPicPr/>
          <p:nvPr/>
        </p:nvPicPr>
        <p:blipFill>
          <a:blip r:embed="rId2"/>
          <a:srcRect l="29702" t="0" r="29547" b="0"/>
          <a:stretch/>
        </p:blipFill>
        <p:spPr>
          <a:xfrm>
            <a:off x="3353040" y="707760"/>
            <a:ext cx="2163600" cy="2851200"/>
          </a:xfrm>
          <a:prstGeom prst="rect">
            <a:avLst/>
          </a:prstGeom>
          <a:ln>
            <a:noFill/>
          </a:ln>
        </p:spPr>
      </p:pic>
      <p:pic>
        <p:nvPicPr>
          <p:cNvPr id="91" name="Google Shape;127;p20" descr=""/>
          <p:cNvPicPr/>
          <p:nvPr/>
        </p:nvPicPr>
        <p:blipFill>
          <a:blip r:embed="rId3"/>
          <a:srcRect l="13984" t="0" r="11037" b="0"/>
          <a:stretch/>
        </p:blipFill>
        <p:spPr>
          <a:xfrm>
            <a:off x="5867280" y="1034640"/>
            <a:ext cx="3085200" cy="21970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9" dur="indefinite" restart="never" nodeType="tmRoot">
          <p:childTnLst>
            <p:seq>
              <p:cTn id="1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" name="Google Shape;133;p21" descr=""/>
          <p:cNvPicPr/>
          <p:nvPr/>
        </p:nvPicPr>
        <p:blipFill>
          <a:blip r:embed="rId1"/>
          <a:stretch/>
        </p:blipFill>
        <p:spPr>
          <a:xfrm>
            <a:off x="496080" y="1465920"/>
            <a:ext cx="3902400" cy="2211480"/>
          </a:xfrm>
          <a:prstGeom prst="rect">
            <a:avLst/>
          </a:prstGeom>
          <a:ln>
            <a:noFill/>
          </a:ln>
        </p:spPr>
      </p:pic>
      <p:sp>
        <p:nvSpPr>
          <p:cNvPr id="93" name="CustomShape 1"/>
          <p:cNvSpPr/>
          <p:nvPr/>
        </p:nvSpPr>
        <p:spPr>
          <a:xfrm>
            <a:off x="4749840" y="1728360"/>
            <a:ext cx="3902760" cy="35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Дашборд инспектора ООПТ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94" name="CustomShape 2"/>
          <p:cNvSpPr/>
          <p:nvPr/>
        </p:nvSpPr>
        <p:spPr>
          <a:xfrm>
            <a:off x="4749840" y="2224440"/>
            <a:ext cx="3902760" cy="12823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Все отчёты на карте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Статусы: ожидает / подтверждён / отклонён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Группировка данных для выезда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Меньше рутины — не просматривать все снимки вручную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95" name="Google Shape;136;p21" descr=""/>
          <p:cNvPicPr/>
          <p:nvPr/>
        </p:nvPicPr>
        <p:blipFill>
          <a:blip r:embed="rId2"/>
          <a:srcRect l="13164" t="0" r="10751" b="0"/>
          <a:stretch/>
        </p:blipFill>
        <p:spPr>
          <a:xfrm>
            <a:off x="344880" y="1465920"/>
            <a:ext cx="4205160" cy="221148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1" dur="indefinite" restart="never" nodeType="tmRoot">
          <p:childTnLst>
            <p:seq>
              <p:cTn id="12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CustomShape 1"/>
          <p:cNvSpPr/>
          <p:nvPr/>
        </p:nvSpPr>
        <p:spPr>
          <a:xfrm>
            <a:off x="496080" y="1171800"/>
            <a:ext cx="8151480" cy="35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KPI — пилот (6 мес.)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97" name="CustomShape 2"/>
          <p:cNvSpPr/>
          <p:nvPr/>
        </p:nvSpPr>
        <p:spPr>
          <a:xfrm>
            <a:off x="496080" y="1809720"/>
            <a:ext cx="2622240" cy="816480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CustomShape 3"/>
          <p:cNvSpPr/>
          <p:nvPr/>
        </p:nvSpPr>
        <p:spPr>
          <a:xfrm>
            <a:off x="637920" y="1951560"/>
            <a:ext cx="233892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CAC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99" name="CustomShape 4"/>
          <p:cNvSpPr/>
          <p:nvPr/>
        </p:nvSpPr>
        <p:spPr>
          <a:xfrm>
            <a:off x="637920" y="2257920"/>
            <a:ext cx="233892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Стоимость привлечения участника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0" name="CustomShape 5"/>
          <p:cNvSpPr/>
          <p:nvPr/>
        </p:nvSpPr>
        <p:spPr>
          <a:xfrm>
            <a:off x="3260520" y="1809720"/>
            <a:ext cx="2622240" cy="816480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CustomShape 6"/>
          <p:cNvSpPr/>
          <p:nvPr/>
        </p:nvSpPr>
        <p:spPr>
          <a:xfrm>
            <a:off x="3402360" y="1951560"/>
            <a:ext cx="233892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Конверсия в обучение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2" name="CustomShape 7"/>
          <p:cNvSpPr/>
          <p:nvPr/>
        </p:nvSpPr>
        <p:spPr>
          <a:xfrm>
            <a:off x="3402360" y="2257920"/>
            <a:ext cx="233892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% прошедших уроки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3" name="CustomShape 8"/>
          <p:cNvSpPr/>
          <p:nvPr/>
        </p:nvSpPr>
        <p:spPr>
          <a:xfrm>
            <a:off x="6024960" y="1809720"/>
            <a:ext cx="2622240" cy="816480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4" name="CustomShape 9"/>
          <p:cNvSpPr/>
          <p:nvPr/>
        </p:nvSpPr>
        <p:spPr>
          <a:xfrm>
            <a:off x="6166800" y="1951560"/>
            <a:ext cx="233892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Доля полезных отметок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5" name="CustomShape 10"/>
          <p:cNvSpPr/>
          <p:nvPr/>
        </p:nvSpPr>
        <p:spPr>
          <a:xfrm>
            <a:off x="6166800" y="2257920"/>
            <a:ext cx="233892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% подтверждённых инспекторами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6" name="CustomShape 11"/>
          <p:cNvSpPr/>
          <p:nvPr/>
        </p:nvSpPr>
        <p:spPr>
          <a:xfrm>
            <a:off x="496080" y="2768400"/>
            <a:ext cx="4004640" cy="816480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7" name="CustomShape 12"/>
          <p:cNvSpPr/>
          <p:nvPr/>
        </p:nvSpPr>
        <p:spPr>
          <a:xfrm>
            <a:off x="637920" y="2910240"/>
            <a:ext cx="372096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Возвращаемость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08" name="CustomShape 13"/>
          <p:cNvSpPr/>
          <p:nvPr/>
        </p:nvSpPr>
        <p:spPr>
          <a:xfrm>
            <a:off x="637920" y="3216600"/>
            <a:ext cx="372096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DAU / MAU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09" name="CustomShape 14"/>
          <p:cNvSpPr/>
          <p:nvPr/>
        </p:nvSpPr>
        <p:spPr>
          <a:xfrm>
            <a:off x="4642920" y="2768400"/>
            <a:ext cx="4004640" cy="816480"/>
          </a:xfrm>
          <a:prstGeom prst="roundRect">
            <a:avLst>
              <a:gd name="adj" fmla="val 2603"/>
            </a:avLst>
          </a:prstGeom>
          <a:solidFill>
            <a:srgbClr val="404040"/>
          </a:solidFill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0" name="CustomShape 15"/>
          <p:cNvSpPr/>
          <p:nvPr/>
        </p:nvSpPr>
        <p:spPr>
          <a:xfrm>
            <a:off x="4784760" y="2910240"/>
            <a:ext cx="372096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Время реакции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11" name="CustomShape 16"/>
          <p:cNvSpPr/>
          <p:nvPr/>
        </p:nvSpPr>
        <p:spPr>
          <a:xfrm>
            <a:off x="4784760" y="3216600"/>
            <a:ext cx="372096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От отметки до верификации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12" name="CustomShape 17"/>
          <p:cNvSpPr/>
          <p:nvPr/>
        </p:nvSpPr>
        <p:spPr>
          <a:xfrm>
            <a:off x="496080" y="3744720"/>
            <a:ext cx="8608680" cy="226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Цели: 500+ волонтёров · 100+ нарушений · 3 партнёра ООПТ</a:t>
            </a:r>
            <a:endParaRPr b="0" lang="ru-RU" sz="1100" spc="-1" strike="noStrike">
              <a:latin typeface="Arial"/>
            </a:endParaRPr>
          </a:p>
        </p:txBody>
      </p:sp>
    </p:spTree>
  </p:cSld>
  <p:timing>
    <p:tnLst>
      <p:par>
        <p:cTn id="13" dur="indefinite" restart="never" nodeType="tmRoot">
          <p:childTnLst>
            <p:seq>
              <p:cTn id="14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CustomShape 1"/>
          <p:cNvSpPr/>
          <p:nvPr/>
        </p:nvSpPr>
        <p:spPr>
          <a:xfrm>
            <a:off x="496080" y="413280"/>
            <a:ext cx="8151480" cy="318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0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Архитектура</a:t>
            </a:r>
            <a:endParaRPr b="0" lang="ru-RU" sz="2000" spc="-1" strike="noStrike">
              <a:latin typeface="Arial"/>
            </a:endParaRPr>
          </a:p>
        </p:txBody>
      </p:sp>
      <p:pic>
        <p:nvPicPr>
          <p:cNvPr id="114" name="Google Shape;165;p23" descr=""/>
          <p:cNvPicPr/>
          <p:nvPr/>
        </p:nvPicPr>
        <p:blipFill>
          <a:blip r:embed="rId1"/>
          <a:stretch/>
        </p:blipFill>
        <p:spPr>
          <a:xfrm>
            <a:off x="903600" y="961920"/>
            <a:ext cx="7336080" cy="3444840"/>
          </a:xfrm>
          <a:prstGeom prst="rect">
            <a:avLst/>
          </a:prstGeom>
          <a:ln>
            <a:noFill/>
          </a:ln>
        </p:spPr>
      </p:pic>
      <p:sp>
        <p:nvSpPr>
          <p:cNvPr id="115" name="CustomShape 2"/>
          <p:cNvSpPr/>
          <p:nvPr/>
        </p:nvSpPr>
        <p:spPr>
          <a:xfrm>
            <a:off x="1441800" y="3545280"/>
            <a:ext cx="16095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r">
              <a:lnSpc>
                <a:spcPct val="104000"/>
              </a:lnSpc>
            </a:pPr>
            <a:r>
              <a:rPr b="0" lang="ru-RU" sz="1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Frontend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16" name="CustomShape 3"/>
          <p:cNvSpPr/>
          <p:nvPr/>
        </p:nvSpPr>
        <p:spPr>
          <a:xfrm>
            <a:off x="1077120" y="3803760"/>
            <a:ext cx="1974240" cy="15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r">
              <a:lnSpc>
                <a:spcPct val="99000"/>
              </a:lnSpc>
            </a:pPr>
            <a:r>
              <a:rPr b="0" lang="ru-RU" sz="1000" spc="-1" strike="noStrike">
                <a:solidFill>
                  <a:srgbClr val="e5e0df"/>
                </a:solidFill>
                <a:latin typeface="Roboto"/>
                <a:ea typeface="Roboto"/>
              </a:rPr>
              <a:t>Next.js SPA with SSR</a:t>
            </a:r>
            <a:endParaRPr b="0" lang="ru-RU" sz="1000" spc="-1" strike="noStrike">
              <a:latin typeface="Arial"/>
            </a:endParaRPr>
          </a:p>
        </p:txBody>
      </p:sp>
      <p:sp>
        <p:nvSpPr>
          <p:cNvPr id="117" name="CustomShape 4"/>
          <p:cNvSpPr/>
          <p:nvPr/>
        </p:nvSpPr>
        <p:spPr>
          <a:xfrm>
            <a:off x="6142320" y="2983680"/>
            <a:ext cx="16095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API Gateway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18" name="CustomShape 5"/>
          <p:cNvSpPr/>
          <p:nvPr/>
        </p:nvSpPr>
        <p:spPr>
          <a:xfrm>
            <a:off x="6142320" y="3242160"/>
            <a:ext cx="1924200" cy="15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99000"/>
              </a:lnSpc>
            </a:pPr>
            <a:r>
              <a:rPr b="0" lang="ru-RU" sz="1000" spc="-1" strike="noStrike">
                <a:solidFill>
                  <a:srgbClr val="e5e0df"/>
                </a:solidFill>
                <a:latin typeface="Roboto"/>
                <a:ea typeface="Roboto"/>
              </a:rPr>
              <a:t>JWT, CORS, request validation</a:t>
            </a:r>
            <a:endParaRPr b="0" lang="ru-RU" sz="1000" spc="-1" strike="noStrike">
              <a:latin typeface="Arial"/>
            </a:endParaRPr>
          </a:p>
        </p:txBody>
      </p:sp>
      <p:sp>
        <p:nvSpPr>
          <p:cNvPr id="119" name="CustomShape 6"/>
          <p:cNvSpPr/>
          <p:nvPr/>
        </p:nvSpPr>
        <p:spPr>
          <a:xfrm>
            <a:off x="1441800" y="2472120"/>
            <a:ext cx="16095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r">
              <a:lnSpc>
                <a:spcPct val="104000"/>
              </a:lnSpc>
            </a:pPr>
            <a:r>
              <a:rPr b="0" lang="ru-RU" sz="1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Backend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20" name="CustomShape 7"/>
          <p:cNvSpPr/>
          <p:nvPr/>
        </p:nvSpPr>
        <p:spPr>
          <a:xfrm>
            <a:off x="1076760" y="2730600"/>
            <a:ext cx="1974240" cy="15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r">
              <a:lnSpc>
                <a:spcPct val="99000"/>
              </a:lnSpc>
            </a:pPr>
            <a:r>
              <a:rPr b="0" lang="ru-RU" sz="1000" spc="-1" strike="noStrike">
                <a:solidFill>
                  <a:srgbClr val="e5e0df"/>
                </a:solidFill>
                <a:latin typeface="Roboto"/>
                <a:ea typeface="Roboto"/>
              </a:rPr>
              <a:t>Go Gin services using GORM</a:t>
            </a:r>
            <a:endParaRPr b="0" lang="ru-RU" sz="1000" spc="-1" strike="noStrike">
              <a:latin typeface="Arial"/>
            </a:endParaRPr>
          </a:p>
        </p:txBody>
      </p:sp>
      <p:sp>
        <p:nvSpPr>
          <p:cNvPr id="121" name="CustomShape 8"/>
          <p:cNvSpPr/>
          <p:nvPr/>
        </p:nvSpPr>
        <p:spPr>
          <a:xfrm>
            <a:off x="6142320" y="1867320"/>
            <a:ext cx="16095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Database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22" name="CustomShape 9"/>
          <p:cNvSpPr/>
          <p:nvPr/>
        </p:nvSpPr>
        <p:spPr>
          <a:xfrm>
            <a:off x="6142320" y="2125800"/>
            <a:ext cx="1924200" cy="15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99000"/>
              </a:lnSpc>
            </a:pPr>
            <a:r>
              <a:rPr b="0" lang="ru-RU" sz="1000" spc="-1" strike="noStrike">
                <a:solidFill>
                  <a:srgbClr val="e5e0df"/>
                </a:solidFill>
                <a:latin typeface="Roboto"/>
                <a:ea typeface="Roboto"/>
              </a:rPr>
              <a:t>PostgreSQL primary store</a:t>
            </a:r>
            <a:endParaRPr b="0" lang="ru-RU" sz="1000" spc="-1" strike="noStrike">
              <a:latin typeface="Arial"/>
            </a:endParaRPr>
          </a:p>
        </p:txBody>
      </p:sp>
      <p:sp>
        <p:nvSpPr>
          <p:cNvPr id="123" name="CustomShape 10"/>
          <p:cNvSpPr/>
          <p:nvPr/>
        </p:nvSpPr>
        <p:spPr>
          <a:xfrm>
            <a:off x="1441800" y="1398960"/>
            <a:ext cx="1609560" cy="200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r">
              <a:lnSpc>
                <a:spcPct val="104000"/>
              </a:lnSpc>
            </a:pPr>
            <a:r>
              <a:rPr b="0" lang="ru-RU" sz="1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Integrations</a:t>
            </a:r>
            <a:endParaRPr b="0" lang="ru-RU" sz="1200" spc="-1" strike="noStrike">
              <a:latin typeface="Arial"/>
            </a:endParaRPr>
          </a:p>
        </p:txBody>
      </p:sp>
      <p:sp>
        <p:nvSpPr>
          <p:cNvPr id="124" name="CustomShape 11"/>
          <p:cNvSpPr/>
          <p:nvPr/>
        </p:nvSpPr>
        <p:spPr>
          <a:xfrm>
            <a:off x="1077120" y="1657440"/>
            <a:ext cx="1974240" cy="1526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algn="r">
              <a:lnSpc>
                <a:spcPct val="99000"/>
              </a:lnSpc>
            </a:pPr>
            <a:r>
              <a:rPr b="0" lang="ru-RU" sz="1000" spc="-1" strike="noStrike">
                <a:solidFill>
                  <a:srgbClr val="e5e0df"/>
                </a:solidFill>
                <a:latin typeface="Roboto"/>
                <a:ea typeface="Roboto"/>
              </a:rPr>
              <a:t>Satellite, Yandex Maps, Yandex S3</a:t>
            </a:r>
            <a:endParaRPr b="0" lang="ru-RU" sz="1000" spc="-1" strike="noStrike">
              <a:latin typeface="Arial"/>
            </a:endParaRPr>
          </a:p>
        </p:txBody>
      </p:sp>
    </p:spTree>
  </p:cSld>
  <p:timing>
    <p:tnLst>
      <p:par>
        <p:cTn id="15" dur="indefinite" restart="never" nodeType="tmRoot">
          <p:childTnLst>
            <p:seq>
              <p:cTn id="16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81;p24" descr=""/>
          <p:cNvPicPr/>
          <p:nvPr/>
        </p:nvPicPr>
        <p:blipFill>
          <a:blip r:embed="rId1"/>
          <a:stretch/>
        </p:blipFill>
        <p:spPr>
          <a:xfrm>
            <a:off x="496080" y="1465920"/>
            <a:ext cx="3902400" cy="2211480"/>
          </a:xfrm>
          <a:prstGeom prst="rect">
            <a:avLst/>
          </a:prstGeom>
          <a:ln>
            <a:noFill/>
          </a:ln>
        </p:spPr>
      </p:pic>
      <p:sp>
        <p:nvSpPr>
          <p:cNvPr id="126" name="CustomShape 1"/>
          <p:cNvSpPr/>
          <p:nvPr/>
        </p:nvSpPr>
        <p:spPr>
          <a:xfrm>
            <a:off x="4749840" y="1169640"/>
            <a:ext cx="3902760" cy="35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Технологии и запуск</a:t>
            </a:r>
            <a:endParaRPr b="0" lang="ru-RU" sz="2200" spc="-1" strike="noStrike">
              <a:latin typeface="Arial"/>
            </a:endParaRPr>
          </a:p>
        </p:txBody>
      </p:sp>
      <p:sp>
        <p:nvSpPr>
          <p:cNvPr id="127" name="CustomShape 2"/>
          <p:cNvSpPr/>
          <p:nvPr/>
        </p:nvSpPr>
        <p:spPr>
          <a:xfrm>
            <a:off x="4749840" y="1665720"/>
            <a:ext cx="3902760" cy="105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Бэкенд: Go · Gin · GORM · JWT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Фронтенд: Next.js · React · TypeScript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БД: PostgreSQL 17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Инфра: Docker · docker-compose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8" name="CustomShape 3"/>
          <p:cNvSpPr/>
          <p:nvPr/>
        </p:nvSpPr>
        <p:spPr>
          <a:xfrm>
            <a:off x="4749840" y="2849400"/>
            <a:ext cx="3902760" cy="585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Запуск: </a:t>
            </a:r>
            <a:r>
              <a:rPr b="0" lang="ru-RU" sz="1100" spc="-1" strike="noStrike">
                <a:solidFill>
                  <a:srgbClr val="e5e0df"/>
                </a:solidFill>
                <a:latin typeface="Consolas"/>
                <a:ea typeface="Consolas"/>
              </a:rPr>
              <a:t>docker-compose up --build</a:t>
            </a:r>
            <a:endParaRPr b="0" lang="ru-RU" sz="1100" spc="-1" strike="noStrike">
              <a:latin typeface="Arial"/>
            </a:endParaRPr>
          </a:p>
          <a:p>
            <a:pPr>
              <a:lnSpc>
                <a:spcPct val="133000"/>
              </a:lnSpc>
              <a:spcBef>
                <a:spcPts val="1001"/>
              </a:spcBef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Тестовые пользователи:</a:t>
            </a:r>
            <a:endParaRPr b="0" lang="ru-RU" sz="1100" spc="-1" strike="noStrike">
              <a:latin typeface="Arial"/>
            </a:endParaRPr>
          </a:p>
        </p:txBody>
      </p:sp>
      <p:sp>
        <p:nvSpPr>
          <p:cNvPr id="129" name="CustomShape 4"/>
          <p:cNvSpPr/>
          <p:nvPr/>
        </p:nvSpPr>
        <p:spPr>
          <a:xfrm>
            <a:off x="4749840" y="3562920"/>
            <a:ext cx="3902760" cy="5029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скаут: </a:t>
            </a:r>
            <a:r>
              <a:rPr b="1" lang="ru-RU" sz="1100" spc="-1" strike="noStrike" u="sng">
                <a:solidFill>
                  <a:srgbClr val="dcff50"/>
                </a:solidFill>
                <a:uFillTx/>
                <a:latin typeface="Roboto"/>
                <a:ea typeface="Roboto"/>
                <a:hlinkClick r:id="rId2"/>
              </a:rPr>
              <a:t>scout@example.com</a:t>
            </a: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 / password123</a:t>
            </a:r>
            <a:endParaRPr b="0" lang="ru-RU" sz="1100" spc="-1" strike="noStrike">
              <a:latin typeface="Arial"/>
            </a:endParaRPr>
          </a:p>
          <a:p>
            <a:pPr marL="216000" indent="-221760">
              <a:lnSpc>
                <a:spcPct val="133000"/>
              </a:lnSpc>
              <a:buClr>
                <a:srgbClr val="e5e0df"/>
              </a:buClr>
              <a:buFont typeface="Roboto"/>
              <a:buChar char="•"/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инспектор: </a:t>
            </a:r>
            <a:r>
              <a:rPr b="1" lang="ru-RU" sz="1100" spc="-1" strike="noStrike" u="sng">
                <a:solidFill>
                  <a:srgbClr val="dcff50"/>
                </a:solidFill>
                <a:uFillTx/>
                <a:latin typeface="Roboto"/>
                <a:ea typeface="Roboto"/>
                <a:hlinkClick r:id="rId3"/>
              </a:rPr>
              <a:t>oopt@example.com</a:t>
            </a: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 / password123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130" name="Google Shape;186;p24" descr=""/>
          <p:cNvPicPr/>
          <p:nvPr/>
        </p:nvPicPr>
        <p:blipFill>
          <a:blip r:embed="rId4"/>
          <a:stretch/>
        </p:blipFill>
        <p:spPr>
          <a:xfrm>
            <a:off x="324000" y="1126800"/>
            <a:ext cx="4246920" cy="288936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7" dur="indefinite" restart="never" nodeType="tmRoot">
          <p:childTnLst>
            <p:seq>
              <p:cTn id="18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1" name="Google Shape;192;p25" descr=""/>
          <p:cNvPicPr/>
          <p:nvPr/>
        </p:nvPicPr>
        <p:blipFill>
          <a:blip r:embed="rId1"/>
          <a:stretch/>
        </p:blipFill>
        <p:spPr>
          <a:xfrm>
            <a:off x="0" y="0"/>
            <a:ext cx="3428640" cy="5143320"/>
          </a:xfrm>
          <a:prstGeom prst="rect">
            <a:avLst/>
          </a:prstGeom>
          <a:ln>
            <a:noFill/>
          </a:ln>
        </p:spPr>
      </p:pic>
      <p:sp>
        <p:nvSpPr>
          <p:cNvPr id="132" name="CustomShape 1"/>
          <p:cNvSpPr/>
          <p:nvPr/>
        </p:nvSpPr>
        <p:spPr>
          <a:xfrm>
            <a:off x="4131000" y="1067040"/>
            <a:ext cx="4722480" cy="353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2200" spc="-1" strike="noStrike">
                <a:solidFill>
                  <a:srgbClr val="ffffff"/>
                </a:solidFill>
                <a:latin typeface="Roboto Mono Medium"/>
                <a:ea typeface="Roboto Mono Medium"/>
              </a:rPr>
              <a:t>Итог и планы</a:t>
            </a:r>
            <a:endParaRPr b="0" lang="ru-RU" sz="2200" spc="-1" strike="noStrike">
              <a:latin typeface="Arial"/>
            </a:endParaRPr>
          </a:p>
        </p:txBody>
      </p:sp>
      <p:pic>
        <p:nvPicPr>
          <p:cNvPr id="133" name="Google Shape;194;p25" descr=""/>
          <p:cNvPicPr/>
          <p:nvPr/>
        </p:nvPicPr>
        <p:blipFill>
          <a:blip r:embed="rId2"/>
          <a:stretch/>
        </p:blipFill>
        <p:spPr>
          <a:xfrm>
            <a:off x="4131000" y="1634040"/>
            <a:ext cx="1479240" cy="2442240"/>
          </a:xfrm>
          <a:prstGeom prst="rect">
            <a:avLst/>
          </a:prstGeom>
          <a:ln>
            <a:noFill/>
          </a:ln>
        </p:spPr>
      </p:pic>
      <p:sp>
        <p:nvSpPr>
          <p:cNvPr id="134" name="CustomShape 2"/>
          <p:cNvSpPr/>
          <p:nvPr/>
        </p:nvSpPr>
        <p:spPr>
          <a:xfrm>
            <a:off x="4367880" y="1794600"/>
            <a:ext cx="108144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Сделано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5" name="CustomShape 3"/>
          <p:cNvSpPr/>
          <p:nvPr/>
        </p:nvSpPr>
        <p:spPr>
          <a:xfrm>
            <a:off x="4312800" y="2101320"/>
            <a:ext cx="1226520" cy="16855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Сделан сервис для привлечения молодёжи 14+ к мониторингу ООПТ через игровой формат и обучение ДЗЗ. 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136" name="Google Shape;197;p25" descr=""/>
          <p:cNvPicPr/>
          <p:nvPr/>
        </p:nvPicPr>
        <p:blipFill>
          <a:blip r:embed="rId3"/>
          <a:stretch/>
        </p:blipFill>
        <p:spPr>
          <a:xfrm>
            <a:off x="5752440" y="1634040"/>
            <a:ext cx="1479240" cy="2442240"/>
          </a:xfrm>
          <a:prstGeom prst="rect">
            <a:avLst/>
          </a:prstGeom>
          <a:ln>
            <a:noFill/>
          </a:ln>
        </p:spPr>
      </p:pic>
      <p:sp>
        <p:nvSpPr>
          <p:cNvPr id="137" name="CustomShape 4"/>
          <p:cNvSpPr/>
          <p:nvPr/>
        </p:nvSpPr>
        <p:spPr>
          <a:xfrm>
            <a:off x="5989320" y="1794600"/>
            <a:ext cx="1081440" cy="221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Планы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38" name="CustomShape 5"/>
          <p:cNvSpPr/>
          <p:nvPr/>
        </p:nvSpPr>
        <p:spPr>
          <a:xfrm>
            <a:off x="5989320" y="2101320"/>
            <a:ext cx="1081440" cy="1814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0" lang="ru-RU" sz="1100" spc="-1" strike="noStrike">
                <a:solidFill>
                  <a:srgbClr val="e5e0df"/>
                </a:solidFill>
                <a:latin typeface="Roboto"/>
                <a:ea typeface="Roboto"/>
              </a:rPr>
              <a:t>Командные турниры · Сезонные кампании · Региональные рейтинги · ML‑фильтрация снимков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139" name="Google Shape;200;p25" descr=""/>
          <p:cNvPicPr/>
          <p:nvPr/>
        </p:nvPicPr>
        <p:blipFill>
          <a:blip r:embed="rId4"/>
          <a:stretch/>
        </p:blipFill>
        <p:spPr>
          <a:xfrm>
            <a:off x="7373880" y="1634040"/>
            <a:ext cx="1479240" cy="2442240"/>
          </a:xfrm>
          <a:prstGeom prst="rect">
            <a:avLst/>
          </a:prstGeom>
          <a:ln>
            <a:noFill/>
          </a:ln>
        </p:spPr>
      </p:pic>
      <p:sp>
        <p:nvSpPr>
          <p:cNvPr id="140" name="CustomShape 6"/>
          <p:cNvSpPr/>
          <p:nvPr/>
        </p:nvSpPr>
        <p:spPr>
          <a:xfrm>
            <a:off x="7610760" y="1794600"/>
            <a:ext cx="1081440" cy="4424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04000"/>
              </a:lnSpc>
            </a:pPr>
            <a:r>
              <a:rPr b="0" lang="ru-RU" sz="1400" spc="-1" strike="noStrike">
                <a:solidFill>
                  <a:srgbClr val="e5e0df"/>
                </a:solidFill>
                <a:latin typeface="Roboto Mono Medium"/>
                <a:ea typeface="Roboto Mono Medium"/>
              </a:rPr>
              <a:t>Репозиторий</a:t>
            </a:r>
            <a:endParaRPr b="0" lang="ru-RU" sz="1400" spc="-1" strike="noStrike">
              <a:latin typeface="Arial"/>
            </a:endParaRPr>
          </a:p>
        </p:txBody>
      </p:sp>
      <p:sp>
        <p:nvSpPr>
          <p:cNvPr id="141" name="CustomShape 7"/>
          <p:cNvSpPr/>
          <p:nvPr/>
        </p:nvSpPr>
        <p:spPr>
          <a:xfrm>
            <a:off x="7610760" y="2322720"/>
            <a:ext cx="1081440" cy="6800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/>
          <a:p>
            <a:pPr>
              <a:lnSpc>
                <a:spcPct val="133000"/>
              </a:lnSpc>
            </a:pPr>
            <a:r>
              <a:rPr b="1" lang="ru-RU" sz="1100" spc="-1" strike="noStrike" u="sng">
                <a:solidFill>
                  <a:srgbClr val="dcff50"/>
                </a:solidFill>
                <a:uFillTx/>
                <a:latin typeface="Roboto"/>
                <a:ea typeface="Roboto"/>
                <a:hlinkClick r:id="rId5"/>
              </a:rPr>
              <a:t>gitverse.ru/hackrus.experts/kosmo-rostov_glo_65</a:t>
            </a:r>
            <a:endParaRPr b="0" lang="ru-RU" sz="1100" spc="-1" strike="noStrike">
              <a:latin typeface="Arial"/>
            </a:endParaRPr>
          </a:p>
        </p:txBody>
      </p:sp>
      <p:pic>
        <p:nvPicPr>
          <p:cNvPr id="142" name="Google Shape;203;p25" descr=""/>
          <p:cNvPicPr/>
          <p:nvPr/>
        </p:nvPicPr>
        <p:blipFill>
          <a:blip r:embed="rId6"/>
          <a:stretch/>
        </p:blipFill>
        <p:spPr>
          <a:xfrm>
            <a:off x="0" y="0"/>
            <a:ext cx="3857400" cy="5143320"/>
          </a:xfrm>
          <a:prstGeom prst="rect">
            <a:avLst/>
          </a:prstGeom>
          <a:ln>
            <a:noFill/>
          </a:ln>
        </p:spPr>
      </p:pic>
    </p:spTree>
  </p:cSld>
  <p:timing>
    <p:tnLst>
      <p:par>
        <p:cTn id="19" dur="indefinite" restart="never" nodeType="tmRoot">
          <p:childTnLst>
            <p:seq>
              <p:cTn id="20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" name="" descr=""/>
          <p:cNvPicPr/>
          <p:nvPr/>
        </p:nvPicPr>
        <p:blipFill>
          <a:blip r:embed="rId1"/>
          <a:stretch/>
        </p:blipFill>
        <p:spPr>
          <a:xfrm>
            <a:off x="2592000" y="720000"/>
            <a:ext cx="3960000" cy="3960000"/>
          </a:xfrm>
          <a:prstGeom prst="rect">
            <a:avLst/>
          </a:prstGeom>
          <a:ln>
            <a:noFill/>
          </a:ln>
        </p:spPr>
      </p:pic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cff50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dcff50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38</TotalTime>
  <Application>LibreOffice/5.4.7.2$Windows_x86 LibreOffice_project/c838ef25c16710f8838b1faec480ebba495259d0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ru-RU</dc:language>
  <cp:lastModifiedBy/>
  <dcterms:modified xsi:type="dcterms:W3CDTF">2026-09-06T12:04:23Z</dcterms:modified>
  <cp:revision>1</cp:revision>
  <dc:subject/>
  <dc:title/>
</cp:coreProperties>
</file>